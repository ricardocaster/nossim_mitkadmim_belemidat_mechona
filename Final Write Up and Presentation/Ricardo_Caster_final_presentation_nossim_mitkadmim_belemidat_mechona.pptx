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89" r:id="rId1"/>
  </p:sldMasterIdLst>
  <p:notesMasterIdLst>
    <p:notesMasterId r:id="rId14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6" r:id="rId11"/>
    <p:sldId id="265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68" d="100"/>
          <a:sy n="68" d="100"/>
        </p:scale>
        <p:origin x="576" y="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888405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F</a:t>
            </a:r>
            <a:r>
              <a:rPr dirty="0"/>
              <a:t>ailure prediction matters more than pass prediction, especially for public safety.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Emphasize recall: missing a failure is more costly than a false alarm.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Both </a:t>
            </a:r>
            <a:r>
              <a:rPr dirty="0"/>
              <a:t>supervised and unsupervised learning are used for complementary insights.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dirty="0"/>
              <a:t>SVM and Logistic Regression give the best tradeoff.</a:t>
            </a:r>
          </a:p>
          <a:p>
            <a:r>
              <a:rPr dirty="0" err="1"/>
              <a:t>XGBoost</a:t>
            </a:r>
            <a:r>
              <a:rPr dirty="0"/>
              <a:t> has high accuracy but poor recall, which is risky for this problem.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r>
              <a:rPr lang="en-US" dirty="0"/>
              <a:t>U</a:t>
            </a:r>
            <a:r>
              <a:rPr dirty="0"/>
              <a:t>nsupervised learning supports understanding, not decision automation.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4ABF13-2EF6-677D-9D6F-00378CF4CA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725B8059-D591-24F5-C0C3-144C7545AE9C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9D72E54-7AB2-C51A-460E-CDEF241188E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36E7C5-5EBC-35FC-242C-9B3BD883F88E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</p:sp>
    </p:spTree>
    <p:extLst>
      <p:ext uri="{BB962C8B-B14F-4D97-AF65-F5344CB8AC3E}">
        <p14:creationId xmlns:p14="http://schemas.microsoft.com/office/powerpoint/2010/main" val="450155548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Title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13259" y="1300786"/>
            <a:ext cx="6517482" cy="2509213"/>
          </a:xfrm>
        </p:spPr>
        <p:txBody>
          <a:bodyPr anchor="b">
            <a:normAutofit/>
          </a:bodyPr>
          <a:lstStyle>
            <a:lvl1pPr algn="ctr">
              <a:defRPr sz="48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517482" cy="1371599"/>
          </a:xfrm>
        </p:spPr>
        <p:txBody>
          <a:bodyPr>
            <a:normAutofit/>
          </a:bodyPr>
          <a:lstStyle>
            <a:lvl1pPr marL="0" indent="0" algn="ctr">
              <a:buNone/>
              <a:defRPr sz="22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257501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777287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221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828564"/>
            <a:ext cx="7763814" cy="2736819"/>
          </a:xfrm>
        </p:spPr>
        <p:txBody>
          <a:bodyPr anchor="b">
            <a:normAutofit/>
          </a:bodyPr>
          <a:lstStyle>
            <a:lvl1pPr>
              <a:defRPr sz="40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3657458"/>
            <a:ext cx="7763814" cy="1368183"/>
          </a:xfrm>
        </p:spPr>
        <p:txBody>
          <a:bodyPr>
            <a:normAutofit/>
          </a:bodyPr>
          <a:lstStyle>
            <a:lvl1pPr marL="0" indent="0" algn="ctr">
              <a:buNone/>
              <a:defRPr sz="2000">
                <a:solidFill>
                  <a:schemeClr val="bg1">
                    <a:lumMod val="50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0070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Content Placeholder 2"/>
          <p:cNvSpPr>
            <a:spLocks noGrp="1"/>
          </p:cNvSpPr>
          <p:nvPr>
            <p:ph sz="quarter" idx="13"/>
          </p:nvPr>
        </p:nvSpPr>
        <p:spPr>
          <a:xfrm>
            <a:off x="685330" y="2367093"/>
            <a:ext cx="382952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13" name="Content Placeholder 3"/>
          <p:cNvSpPr>
            <a:spLocks noGrp="1"/>
          </p:cNvSpPr>
          <p:nvPr>
            <p:ph sz="quarter" idx="14"/>
          </p:nvPr>
        </p:nvSpPr>
        <p:spPr>
          <a:xfrm>
            <a:off x="4629150" y="2367093"/>
            <a:ext cx="3829050" cy="342410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07109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" name="Picture 10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4" name="Title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59746" y="2371018"/>
            <a:ext cx="3655106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Content Placeholder 3"/>
          <p:cNvSpPr>
            <a:spLocks noGrp="1"/>
          </p:cNvSpPr>
          <p:nvPr>
            <p:ph sz="quarter" idx="13"/>
          </p:nvPr>
        </p:nvSpPr>
        <p:spPr>
          <a:xfrm>
            <a:off x="685331" y="3051013"/>
            <a:ext cx="3829520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97317" y="2371018"/>
            <a:ext cx="3661353" cy="679994"/>
          </a:xfrm>
        </p:spPr>
        <p:txBody>
          <a:bodyPr anchor="b">
            <a:noAutofit/>
          </a:bodyPr>
          <a:lstStyle>
            <a:lvl1pPr marL="0" indent="0">
              <a:lnSpc>
                <a:spcPct val="75000"/>
              </a:lnSpc>
              <a:buNone/>
              <a:defRPr sz="26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3" name="Content Placeholder 5"/>
          <p:cNvSpPr>
            <a:spLocks noGrp="1"/>
          </p:cNvSpPr>
          <p:nvPr>
            <p:ph sz="quarter" idx="14"/>
          </p:nvPr>
        </p:nvSpPr>
        <p:spPr>
          <a:xfrm>
            <a:off x="4629150" y="3051013"/>
            <a:ext cx="3829051" cy="2740187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390481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27131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4977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2951766" cy="2023252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0" name="Content Placeholder 2"/>
          <p:cNvSpPr>
            <a:spLocks noGrp="1"/>
          </p:cNvSpPr>
          <p:nvPr>
            <p:ph sz="quarter" idx="13"/>
          </p:nvPr>
        </p:nvSpPr>
        <p:spPr>
          <a:xfrm>
            <a:off x="3808547" y="609601"/>
            <a:ext cx="4650122" cy="5181599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2632852"/>
            <a:ext cx="2951767" cy="3158348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549367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2" y="609600"/>
            <a:ext cx="4129618" cy="2023254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004270" y="609601"/>
            <a:ext cx="3005851" cy="5181600"/>
          </a:xfrm>
          <a:prstGeom prst="roundRect">
            <a:avLst>
              <a:gd name="adj" fmla="val 494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46" y="2632853"/>
            <a:ext cx="4129604" cy="3158347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55994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Foto Panorâmica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46" y="4289374"/>
            <a:ext cx="7773324" cy="81161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88558" y="698261"/>
            <a:ext cx="7366899" cy="3214136"/>
          </a:xfrm>
          <a:prstGeom prst="roundRect">
            <a:avLst>
              <a:gd name="adj" fmla="val 4944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5108728"/>
            <a:ext cx="7773339" cy="682472"/>
          </a:xfrm>
        </p:spPr>
        <p:txBody>
          <a:bodyPr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357802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e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3427245"/>
          </a:xfrm>
        </p:spPr>
        <p:txBody>
          <a:bodyPr anchor="ctr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204821"/>
            <a:ext cx="7773339" cy="1586380"/>
          </a:xfrm>
        </p:spPr>
        <p:txBody>
          <a:bodyPr anchor="ctr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1851734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çã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Picture 12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84659" y="872588"/>
            <a:ext cx="6977064" cy="2729915"/>
          </a:xfrm>
        </p:spPr>
        <p:txBody>
          <a:bodyPr anchor="ctr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3"/>
          </p:nvPr>
        </p:nvSpPr>
        <p:spPr>
          <a:xfrm>
            <a:off x="1290484" y="3610032"/>
            <a:ext cx="6564224" cy="59478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372797"/>
            <a:ext cx="7773339" cy="1421053"/>
          </a:xfrm>
        </p:spPr>
        <p:txBody>
          <a:bodyPr anchor="ctr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  <p:sp>
        <p:nvSpPr>
          <p:cNvPr id="11" name="TextBox 10"/>
          <p:cNvSpPr txBox="1"/>
          <p:nvPr/>
        </p:nvSpPr>
        <p:spPr>
          <a:xfrm>
            <a:off x="737626" y="887859"/>
            <a:ext cx="546888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850130" y="3120015"/>
            <a:ext cx="553641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06811210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artão de No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331" y="2138722"/>
            <a:ext cx="7773339" cy="2511835"/>
          </a:xfrm>
        </p:spPr>
        <p:txBody>
          <a:bodyPr anchor="b"/>
          <a:lstStyle>
            <a:lvl1pPr algn="ctr">
              <a:defRPr sz="3200"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5331" y="4662335"/>
            <a:ext cx="7773339" cy="1140644"/>
          </a:xfrm>
        </p:spPr>
        <p:txBody>
          <a:bodyPr anchor="t"/>
          <a:lstStyle>
            <a:lvl1pPr marL="0" indent="0" algn="ctr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646236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15" name="Title 1"/>
          <p:cNvSpPr>
            <a:spLocks noGrp="1"/>
          </p:cNvSpPr>
          <p:nvPr>
            <p:ph type="title"/>
          </p:nvPr>
        </p:nvSpPr>
        <p:spPr>
          <a:xfrm>
            <a:off x="685331" y="609600"/>
            <a:ext cx="7773339" cy="1605094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7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3"/>
            <a:ext cx="2474232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15"/>
          </p:nvPr>
        </p:nvSpPr>
        <p:spPr>
          <a:xfrm>
            <a:off x="685331" y="2943356"/>
            <a:ext cx="2474232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9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9292" y="2367093"/>
            <a:ext cx="246864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16"/>
          </p:nvPr>
        </p:nvSpPr>
        <p:spPr>
          <a:xfrm>
            <a:off x="3331012" y="2943356"/>
            <a:ext cx="2477513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1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2367093"/>
            <a:ext cx="2478696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4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12" name="Text Placeholder 3"/>
          <p:cNvSpPr>
            <a:spLocks noGrp="1"/>
          </p:cNvSpPr>
          <p:nvPr>
            <p:ph type="body" sz="half" idx="17"/>
          </p:nvPr>
        </p:nvSpPr>
        <p:spPr>
          <a:xfrm>
            <a:off x="5979974" y="2943356"/>
            <a:ext cx="2478696" cy="2847845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7180862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nas d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Picture 16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30" name="Title 1"/>
          <p:cNvSpPr>
            <a:spLocks noGrp="1"/>
          </p:cNvSpPr>
          <p:nvPr>
            <p:ph type="title"/>
          </p:nvPr>
        </p:nvSpPr>
        <p:spPr>
          <a:xfrm>
            <a:off x="685331" y="610772"/>
            <a:ext cx="7773339" cy="1603922"/>
          </a:xfrm>
        </p:spPr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9" name="Text Placeholder 2"/>
          <p:cNvSpPr>
            <a:spLocks noGrp="1"/>
          </p:cNvSpPr>
          <p:nvPr>
            <p:ph type="body" idx="1"/>
          </p:nvPr>
        </p:nvSpPr>
        <p:spPr>
          <a:xfrm>
            <a:off x="685331" y="4204820"/>
            <a:ext cx="2472307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0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85331" y="2367093"/>
            <a:ext cx="2472307" cy="1524000"/>
          </a:xfrm>
          <a:prstGeom prst="roundRect">
            <a:avLst>
              <a:gd name="adj" fmla="val 9363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1" name="Text Placeholder 3"/>
          <p:cNvSpPr>
            <a:spLocks noGrp="1"/>
          </p:cNvSpPr>
          <p:nvPr>
            <p:ph type="body" sz="half" idx="18"/>
          </p:nvPr>
        </p:nvSpPr>
        <p:spPr>
          <a:xfrm>
            <a:off x="685331" y="4781082"/>
            <a:ext cx="2472307" cy="1010118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2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332069" y="4204820"/>
            <a:ext cx="247637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3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331011" y="2367093"/>
            <a:ext cx="2477514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19"/>
          </p:nvPr>
        </p:nvSpPr>
        <p:spPr>
          <a:xfrm>
            <a:off x="3331011" y="4781081"/>
            <a:ext cx="2477514" cy="1010119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5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5979974" y="4204820"/>
            <a:ext cx="2475511" cy="576262"/>
          </a:xfrm>
        </p:spPr>
        <p:txBody>
          <a:bodyPr anchor="b">
            <a:noAutofit/>
          </a:bodyPr>
          <a:lstStyle>
            <a:lvl1pPr marL="0" indent="0" algn="ctr">
              <a:lnSpc>
                <a:spcPct val="75000"/>
              </a:lnSpc>
              <a:buNone/>
              <a:defRPr sz="22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26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5979974" y="2367093"/>
            <a:ext cx="2478696" cy="1524000"/>
          </a:xfrm>
          <a:prstGeom prst="roundRect">
            <a:avLst>
              <a:gd name="adj" fmla="val 8841"/>
            </a:avLst>
          </a:prstGeom>
          <a:noFill/>
          <a:ln w="82550" cap="sq">
            <a:solidFill>
              <a:srgbClr val="EAEAEA"/>
            </a:solidFill>
            <a:miter lim="800000"/>
          </a:ln>
          <a:effectLst/>
          <a:scene3d>
            <a:camera prst="orthographicFront"/>
            <a:lightRig rig="threePt" dir="t">
              <a:rot lat="0" lon="0" rev="2700000"/>
            </a:lightRig>
          </a:scene3d>
          <a:sp3d contourW="6350">
            <a:bevelT h="38100"/>
            <a:contourClr>
              <a:srgbClr val="C0C0C0"/>
            </a:contourClr>
          </a:sp3d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pt-BR"/>
              <a:t>Clique no ícone para adicionar uma imagem</a:t>
            </a:r>
            <a:endParaRPr lang="en-US" dirty="0"/>
          </a:p>
        </p:txBody>
      </p:sp>
      <p:sp>
        <p:nvSpPr>
          <p:cNvPr id="27" name="Text Placeholder 3"/>
          <p:cNvSpPr>
            <a:spLocks noGrp="1"/>
          </p:cNvSpPr>
          <p:nvPr>
            <p:ph type="body" sz="half" idx="20"/>
          </p:nvPr>
        </p:nvSpPr>
        <p:spPr>
          <a:xfrm>
            <a:off x="5979880" y="4781079"/>
            <a:ext cx="2478790" cy="1010121"/>
          </a:xfrm>
        </p:spPr>
        <p:txBody>
          <a:bodyPr anchor="t"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74868670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11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2367094"/>
            <a:ext cx="7773339" cy="3424107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757783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Droplets-SD-Content-R1d.png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543675" y="609602"/>
            <a:ext cx="1914995" cy="518159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8" name="Vertical Text Placeholder 2"/>
          <p:cNvSpPr>
            <a:spLocks noGrp="1"/>
          </p:cNvSpPr>
          <p:nvPr>
            <p:ph type="body" orient="vert" sz="quarter" idx="13"/>
          </p:nvPr>
        </p:nvSpPr>
        <p:spPr>
          <a:xfrm>
            <a:off x="685331" y="609602"/>
            <a:ext cx="5744043" cy="5181599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54052110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obj">
  <p:cSld name="1_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92662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\\DROBO-FS\QuickDrops\JB\PPTX NG\Droplets\LightingOverlay.png"/>
          <p:cNvPicPr>
            <a:picLocks noChangeAspect="1" noChangeArrowheads="1"/>
          </p:cNvPicPr>
          <p:nvPr/>
        </p:nvPicPr>
        <p:blipFill>
          <a:blip r:embed="rId20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-1"/>
            <a:ext cx="9144002" cy="68580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5332" y="618518"/>
            <a:ext cx="7773338" cy="15961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5331" y="2367094"/>
            <a:ext cx="7773339" cy="342410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759053" y="5883276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5331" y="5883276"/>
            <a:ext cx="500466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885509" y="5883276"/>
            <a:ext cx="57316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/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27721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  <p:sldLayoutId id="2147483701" r:id="rId12"/>
    <p:sldLayoutId id="2147483702" r:id="rId13"/>
    <p:sldLayoutId id="2147483703" r:id="rId14"/>
    <p:sldLayoutId id="2147483704" r:id="rId15"/>
    <p:sldLayoutId id="2147483705" r:id="rId16"/>
    <p:sldLayoutId id="2147483706" r:id="rId17"/>
    <p:sldLayoutId id="2147483707" r:id="rId18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3600" kern="1200" cap="all" baseline="0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tx1"/>
        </a:buClr>
        <a:buFont typeface="Arial" panose="020B0604020202020204" pitchFamily="34" charset="0"/>
        <a:buChar char="•"/>
        <a:defRPr sz="20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8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6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tx1"/>
        </a:buClr>
        <a:buFont typeface="Arial" panose="020B0604020202020204" pitchFamily="34" charset="0"/>
        <a:buChar char="•"/>
        <a:defRPr sz="1400" kern="1200" cap="all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8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8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8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8.xml"/><Relationship Id="rId4" Type="http://schemas.openxmlformats.org/officeDocument/2006/relationships/image" Target="../media/image8.png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8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8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ublicdomainpictures.net/view-image.php?image=380701&amp;picture=any-questions" TargetMode="External"/><Relationship Id="rId2" Type="http://schemas.openxmlformats.org/officeDocument/2006/relationships/image" Target="../media/image9.jpg"/><Relationship Id="rId1" Type="http://schemas.openxmlformats.org/officeDocument/2006/relationships/slideLayout" Target="../slideLayouts/slideLayout7.xml"/><Relationship Id="rId5" Type="http://schemas.openxmlformats.org/officeDocument/2006/relationships/hyperlink" Target="https://ar.inspiredpencil.com/pictures-2023/thank-you-hd-images-for-ppt" TargetMode="External"/><Relationship Id="rId4" Type="http://schemas.openxmlformats.org/officeDocument/2006/relationships/image" Target="../media/image10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Predicting Public Passenger Vehicle Inspection Outcomes in Chicago</a:t>
            </a:r>
            <a:endParaRPr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13259" y="3886201"/>
            <a:ext cx="6789732" cy="2509213"/>
          </a:xfrm>
        </p:spPr>
        <p:txBody>
          <a:bodyPr>
            <a:noAutofit/>
          </a:bodyPr>
          <a:lstStyle/>
          <a:p>
            <a:r>
              <a:rPr lang="en-US" sz="1600" b="1" dirty="0"/>
              <a:t>Student: Ricardo Caster</a:t>
            </a:r>
            <a:endParaRPr lang="pt-BR" sz="1600" b="1" dirty="0"/>
          </a:p>
          <a:p>
            <a:r>
              <a:rPr sz="1600" b="1" dirty="0"/>
              <a:t>Ariel University</a:t>
            </a:r>
            <a:endParaRPr lang="pt-BR" sz="1600" b="1" dirty="0"/>
          </a:p>
          <a:p>
            <a:r>
              <a:rPr lang="en-US" sz="1600" b="1" dirty="0"/>
              <a:t>Course: Advanced Topics in Machine Learning</a:t>
            </a:r>
            <a:endParaRPr sz="1600" b="1" dirty="0"/>
          </a:p>
          <a:p>
            <a:r>
              <a:rPr sz="1600" b="1" dirty="0"/>
              <a:t>Lecturer</a:t>
            </a:r>
            <a:r>
              <a:rPr lang="en-US" sz="1600" b="1" dirty="0"/>
              <a:t>:</a:t>
            </a:r>
            <a:r>
              <a:rPr lang="pt-BR" sz="1600" b="1" dirty="0"/>
              <a:t> </a:t>
            </a:r>
            <a:r>
              <a:rPr lang="he-IL" sz="1600" b="1" dirty="0"/>
              <a:t>פרופ' חג'ג' חן</a:t>
            </a:r>
            <a:endParaRPr sz="1600" b="1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Problem Definition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Predict whether a public passenger vehicle will FAIL inspection</a:t>
            </a:r>
          </a:p>
          <a:p>
            <a:r>
              <a:rPr dirty="0"/>
              <a:t>Goal: identify risky vehicles before inspection</a:t>
            </a:r>
          </a:p>
          <a:p>
            <a:r>
              <a:rPr dirty="0"/>
              <a:t>Important for safety, regulation, and resource allocation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Project Goals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4"/>
            <a:ext cx="7773339" cy="4258789"/>
          </a:xfrm>
        </p:spPr>
        <p:txBody>
          <a:bodyPr>
            <a:normAutofit/>
          </a:bodyPr>
          <a:lstStyle/>
          <a:p>
            <a:r>
              <a:rPr lang="en-US" sz="1800" b="1" dirty="0"/>
              <a:t>Predictive Modeling:</a:t>
            </a:r>
            <a:r>
              <a:rPr lang="en-US" sz="1800" dirty="0"/>
              <a:t> Develop a supervised ML pipeline to classify "PASSED" vs "FAILED" outcomes.</a:t>
            </a:r>
          </a:p>
          <a:p>
            <a:r>
              <a:rPr lang="en-US" sz="1800" b="1" dirty="0"/>
              <a:t>Safety Priority:</a:t>
            </a:r>
            <a:r>
              <a:rPr lang="en-US" sz="1800" dirty="0"/>
              <a:t> Maximize the detection of mechanical failures (Recall).</a:t>
            </a:r>
          </a:p>
          <a:p>
            <a:r>
              <a:rPr lang="en-US" sz="1800" b="1" dirty="0"/>
              <a:t>Fleet Insight:</a:t>
            </a:r>
            <a:r>
              <a:rPr lang="en-US" sz="1800" dirty="0"/>
              <a:t> Use unsupervised learning to discover hidden risk profiles and anomalies.</a:t>
            </a:r>
          </a:p>
          <a:p>
            <a:r>
              <a:rPr lang="en-US" sz="1800" b="1" dirty="0"/>
              <a:t>Feature Validation:</a:t>
            </a:r>
            <a:r>
              <a:rPr lang="en-US" sz="1800" dirty="0"/>
              <a:t> Conduct an ablation study to prove which features truly drive inspection results.</a:t>
            </a:r>
            <a:endParaRPr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Related Methods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Binary classification for risk prediction</a:t>
            </a:r>
          </a:p>
          <a:p>
            <a:r>
              <a:rPr dirty="0"/>
              <a:t>Clustering for risk profiling</a:t>
            </a:r>
          </a:p>
          <a:p>
            <a:r>
              <a:rPr dirty="0"/>
              <a:t>Anomaly detection for unusual vehicles</a:t>
            </a:r>
            <a:endParaRPr lang="en-US" dirty="0"/>
          </a:p>
          <a:p>
            <a:r>
              <a:rPr lang="en-US" dirty="0"/>
              <a:t>Imbalance Handling: Real-world inspection data is skewed toward "PASS"; used class weighting to address this.</a:t>
            </a:r>
          </a:p>
          <a:p>
            <a:r>
              <a:rPr lang="en-US" dirty="0"/>
              <a:t>Time Analysis: Explored the impact of scheduling (Month/Hour) on vehicle failure.</a:t>
            </a:r>
            <a:endParaRPr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Dataset &amp;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37625" y="2367094"/>
            <a:ext cx="8581292" cy="3424107"/>
          </a:xfrm>
        </p:spPr>
        <p:txBody>
          <a:bodyPr/>
          <a:lstStyle/>
          <a:p>
            <a:r>
              <a:rPr dirty="0"/>
              <a:t>Chicago Public Passenger Vehicle Inspections</a:t>
            </a:r>
            <a:r>
              <a:rPr lang="en-US" dirty="0"/>
              <a:t>(35,310 raw records)</a:t>
            </a:r>
            <a:endParaRPr dirty="0"/>
          </a:p>
          <a:p>
            <a:r>
              <a:rPr lang="en-US" b="1" dirty="0"/>
              <a:t>Target:</a:t>
            </a:r>
            <a:r>
              <a:rPr lang="en-US" dirty="0"/>
              <a:t> FAILED (1) vs PASSED (0) </a:t>
            </a:r>
            <a:r>
              <a:rPr dirty="0"/>
              <a:t>inspection</a:t>
            </a:r>
          </a:p>
          <a:p>
            <a:r>
              <a:rPr dirty="0"/>
              <a:t>Key features: </a:t>
            </a:r>
            <a:endParaRPr lang="en-US" dirty="0"/>
          </a:p>
          <a:p>
            <a:pPr lvl="1"/>
            <a:r>
              <a:rPr lang="en-US" b="1" dirty="0"/>
              <a:t>Vehicle Age:</a:t>
            </a:r>
            <a:r>
              <a:rPr lang="en-US" dirty="0"/>
              <a:t> (Current Year - Model Year)</a:t>
            </a:r>
          </a:p>
          <a:p>
            <a:pPr lvl="1"/>
            <a:r>
              <a:rPr lang="en-US" b="1" dirty="0"/>
              <a:t>Categorical:</a:t>
            </a:r>
            <a:r>
              <a:rPr lang="en-US" dirty="0"/>
              <a:t> Vehicle Type, Make, Model, Company Name, Affiliation</a:t>
            </a:r>
          </a:p>
          <a:p>
            <a:pPr lvl="1"/>
            <a:r>
              <a:rPr lang="en-US" b="1" dirty="0"/>
              <a:t>Operational:</a:t>
            </a:r>
            <a:r>
              <a:rPr lang="en-US" dirty="0"/>
              <a:t> Inspection Type, Vehicle Status.</a:t>
            </a:r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Methodology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5331" y="2367094"/>
            <a:ext cx="7558337" cy="4005571"/>
          </a:xfrm>
        </p:spPr>
        <p:txBody>
          <a:bodyPr>
            <a:normAutofit fontScale="92500" lnSpcReduction="20000"/>
          </a:bodyPr>
          <a:lstStyle/>
          <a:p>
            <a:r>
              <a:rPr b="1" dirty="0"/>
              <a:t>Preprocessing</a:t>
            </a:r>
            <a:r>
              <a:rPr dirty="0"/>
              <a:t>: Imputation, scaling, one-hot encoding</a:t>
            </a:r>
          </a:p>
          <a:p>
            <a:r>
              <a:rPr lang="en-US" b="1" dirty="0"/>
              <a:t>Supervised Models</a:t>
            </a:r>
            <a:r>
              <a:rPr dirty="0"/>
              <a:t>:</a:t>
            </a:r>
            <a:r>
              <a:rPr lang="en-US" dirty="0"/>
              <a:t>			</a:t>
            </a:r>
          </a:p>
          <a:p>
            <a:pPr lvl="1"/>
            <a:r>
              <a:rPr dirty="0"/>
              <a:t>Logistic Regression</a:t>
            </a:r>
            <a:endParaRPr lang="en-US" dirty="0"/>
          </a:p>
          <a:p>
            <a:pPr lvl="1"/>
            <a:r>
              <a:rPr dirty="0"/>
              <a:t>R</a:t>
            </a:r>
            <a:r>
              <a:rPr lang="en-US" dirty="0"/>
              <a:t>andom </a:t>
            </a:r>
            <a:r>
              <a:rPr dirty="0"/>
              <a:t>F</a:t>
            </a:r>
            <a:r>
              <a:rPr lang="en-US" dirty="0"/>
              <a:t>orest</a:t>
            </a:r>
          </a:p>
          <a:p>
            <a:pPr lvl="1"/>
            <a:r>
              <a:rPr dirty="0" err="1"/>
              <a:t>XGBoost</a:t>
            </a:r>
            <a:endParaRPr lang="en-US" dirty="0"/>
          </a:p>
          <a:p>
            <a:pPr lvl="1"/>
            <a:r>
              <a:rPr dirty="0"/>
              <a:t>SVM</a:t>
            </a:r>
            <a:endParaRPr lang="en-US" dirty="0"/>
          </a:p>
          <a:p>
            <a:pPr lvl="1"/>
            <a:r>
              <a:rPr dirty="0"/>
              <a:t>KNN</a:t>
            </a:r>
            <a:endParaRPr lang="en-US" dirty="0"/>
          </a:p>
          <a:p>
            <a:r>
              <a:rPr lang="en-US" b="1" dirty="0"/>
              <a:t>Unsupervised Techniques:</a:t>
            </a:r>
            <a:endParaRPr lang="en-US" dirty="0"/>
          </a:p>
          <a:p>
            <a:pPr lvl="1"/>
            <a:r>
              <a:rPr lang="en-US" dirty="0"/>
              <a:t>K-Means: To group vehicles into risk categories</a:t>
            </a:r>
          </a:p>
          <a:p>
            <a:pPr lvl="1"/>
            <a:r>
              <a:rPr lang="en-US" dirty="0"/>
              <a:t>Isolation Forest: To flag rare outliers</a:t>
            </a:r>
            <a:endParaRPr dirty="0"/>
          </a:p>
          <a:p>
            <a:r>
              <a:rPr b="1" dirty="0"/>
              <a:t>Evaluation</a:t>
            </a:r>
            <a:r>
              <a:rPr dirty="0"/>
              <a:t>: ROC-AUC, Recall, Precision, PR-AUC</a:t>
            </a:r>
            <a:r>
              <a:rPr lang="en-US" dirty="0"/>
              <a:t>, accuracy</a:t>
            </a:r>
            <a:endParaRPr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Supervised Learning Results</a:t>
            </a:r>
          </a:p>
        </p:txBody>
      </p:sp>
      <p:pic>
        <p:nvPicPr>
          <p:cNvPr id="3" name="Picture 2" descr="roc_auc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2356337"/>
            <a:ext cx="4004604" cy="3003453"/>
          </a:xfrm>
          <a:prstGeom prst="rect">
            <a:avLst/>
          </a:prstGeom>
        </p:spPr>
      </p:pic>
      <p:pic>
        <p:nvPicPr>
          <p:cNvPr id="4" name="Picture 3" descr="recall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1999" y="2356338"/>
            <a:ext cx="4004603" cy="3003452"/>
          </a:xfrm>
          <a:prstGeom prst="rect">
            <a:avLst/>
          </a:prstGeom>
        </p:spPr>
      </p:pic>
      <p:pic>
        <p:nvPicPr>
          <p:cNvPr id="6" name="Imagem 5">
            <a:extLst>
              <a:ext uri="{FF2B5EF4-FFF2-40B4-BE49-F238E27FC236}">
                <a16:creationId xmlns:a16="http://schemas.microsoft.com/office/drawing/2014/main" id="{1B1EB983-74E2-3950-CA91-1482F959C42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489857" y="5501432"/>
            <a:ext cx="5657850" cy="952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dirty="0"/>
              <a:t>Best recall: SVM</a:t>
            </a:r>
          </a:p>
          <a:p>
            <a:r>
              <a:rPr dirty="0"/>
              <a:t>Best balance: Logistic Regression</a:t>
            </a:r>
          </a:p>
          <a:p>
            <a:r>
              <a:rPr dirty="0"/>
              <a:t>Tree models less stable on recall</a:t>
            </a:r>
            <a:endParaRPr lang="en-US" dirty="0"/>
          </a:p>
          <a:p>
            <a:r>
              <a:rPr lang="en-US" b="1" dirty="0"/>
              <a:t>Conclusion:</a:t>
            </a:r>
          </a:p>
          <a:p>
            <a:pPr lvl="1"/>
            <a:r>
              <a:rPr lang="en-US" dirty="0"/>
              <a:t>SVM and Logistic Regression give the best tradeoff.</a:t>
            </a:r>
          </a:p>
          <a:p>
            <a:pPr lvl="1"/>
            <a:r>
              <a:rPr lang="en-US" b="1" dirty="0"/>
              <a:t>SVM</a:t>
            </a:r>
            <a:r>
              <a:rPr lang="en-US" dirty="0"/>
              <a:t> is the best safety tool (highest Recall)</a:t>
            </a:r>
          </a:p>
          <a:p>
            <a:pPr lvl="1"/>
            <a:r>
              <a:rPr lang="en-US" dirty="0" err="1"/>
              <a:t>XGBoost</a:t>
            </a:r>
            <a:r>
              <a:rPr lang="en-US" dirty="0"/>
              <a:t> has the highest accuracy but poor recall, which is risky for this problem because misses too many failures.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37624" y="268710"/>
            <a:ext cx="8121045" cy="1596177"/>
          </a:xfrm>
        </p:spPr>
        <p:txBody>
          <a:bodyPr>
            <a:normAutofit/>
          </a:bodyPr>
          <a:lstStyle/>
          <a:p>
            <a:pPr algn="l"/>
            <a:r>
              <a:rPr lang="en-US" dirty="0"/>
              <a:t>		</a:t>
            </a:r>
            <a:r>
              <a:rPr dirty="0"/>
              <a:t>Unsupervised Insights</a:t>
            </a:r>
            <a:br>
              <a:rPr lang="en-US" dirty="0"/>
            </a:br>
            <a:br>
              <a:rPr lang="en-US" dirty="0"/>
            </a:br>
            <a:r>
              <a:rPr lang="en-US" dirty="0"/>
              <a:t>- </a:t>
            </a:r>
            <a:r>
              <a:rPr lang="en-US" sz="1400" dirty="0"/>
              <a:t>Used for insight, not prediction</a:t>
            </a:r>
            <a:endParaRPr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4745" y="1864888"/>
            <a:ext cx="3474720" cy="4724402"/>
          </a:xfrm>
        </p:spPr>
        <p:txBody>
          <a:bodyPr>
            <a:normAutofit fontScale="77500" lnSpcReduction="20000"/>
          </a:bodyPr>
          <a:lstStyle/>
          <a:p>
            <a:r>
              <a:rPr dirty="0"/>
              <a:t>K-Means reveals distinct risk profiles</a:t>
            </a:r>
            <a:endParaRPr lang="en-US" dirty="0"/>
          </a:p>
          <a:p>
            <a:r>
              <a:rPr lang="en-US" dirty="0"/>
              <a:t>The distance between the </a:t>
            </a:r>
            <a:r>
              <a:rPr lang="en-US" b="1" dirty="0"/>
              <a:t>Red Cluster (3)</a:t>
            </a:r>
            <a:r>
              <a:rPr lang="en-US" dirty="0"/>
              <a:t> and the others mathematically proves that these vehicles have fundamentally different mechanical or organizational characteristics</a:t>
            </a:r>
          </a:p>
          <a:p>
            <a:r>
              <a:rPr lang="en-US" b="1" dirty="0"/>
              <a:t>Cluster 3 Failure Rate:</a:t>
            </a:r>
            <a:r>
              <a:rPr lang="en-US" dirty="0"/>
              <a:t> 37.2% (Highest Risk).</a:t>
            </a:r>
          </a:p>
          <a:p>
            <a:pPr marL="0" indent="0">
              <a:buNone/>
            </a:pPr>
            <a:endParaRPr dirty="0"/>
          </a:p>
          <a:p>
            <a:r>
              <a:rPr dirty="0"/>
              <a:t>Isolation Forest detects rare vehicle patterns</a:t>
            </a:r>
            <a:endParaRPr lang="en-US" dirty="0"/>
          </a:p>
          <a:p>
            <a:r>
              <a:rPr lang="en-US" b="1" dirty="0"/>
              <a:t>Anomaly Rate:</a:t>
            </a:r>
            <a:r>
              <a:rPr lang="en-US" dirty="0"/>
              <a:t> 2% (Unusual patterns detected).</a:t>
            </a:r>
            <a:endParaRPr dirty="0"/>
          </a:p>
        </p:txBody>
      </p:sp>
      <p:pic>
        <p:nvPicPr>
          <p:cNvPr id="4" name="Imagem 3">
            <a:extLst>
              <a:ext uri="{FF2B5EF4-FFF2-40B4-BE49-F238E27FC236}">
                <a16:creationId xmlns:a16="http://schemas.microsoft.com/office/drawing/2014/main" id="{18A5F630-1EAB-CCD2-9104-4C817482EF7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29465" y="1357075"/>
            <a:ext cx="5064370" cy="3636039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8CB88CAA-2296-AD7D-A12E-841AC3E792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34292" y="5331990"/>
            <a:ext cx="4019550" cy="1257300"/>
          </a:xfrm>
          <a:prstGeom prst="rect">
            <a:avLst/>
          </a:prstGeom>
        </p:spPr>
      </p:pic>
      <p:cxnSp>
        <p:nvCxnSpPr>
          <p:cNvPr id="7" name="Conector reto 6">
            <a:extLst>
              <a:ext uri="{FF2B5EF4-FFF2-40B4-BE49-F238E27FC236}">
                <a16:creationId xmlns:a16="http://schemas.microsoft.com/office/drawing/2014/main" id="{1EC495E2-89AE-7DA1-B5CE-0C8808109ACC}"/>
              </a:ext>
            </a:extLst>
          </p:cNvPr>
          <p:cNvCxnSpPr>
            <a:cxnSpLocks/>
          </p:cNvCxnSpPr>
          <p:nvPr/>
        </p:nvCxnSpPr>
        <p:spPr>
          <a:xfrm>
            <a:off x="154745" y="5148775"/>
            <a:ext cx="8792307" cy="0"/>
          </a:xfrm>
          <a:prstGeom prst="line">
            <a:avLst/>
          </a:prstGeom>
          <a:ln w="9525" cap="flat" cmpd="sng" algn="ctr">
            <a:solidFill>
              <a:schemeClr val="dk1"/>
            </a:solidFill>
            <a:prstDash val="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2742C0-0527-1F69-55B5-10F7F1A7767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A94F82-0414-AE3B-E1D2-1BCA1CAEB31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Time Feature Analysis</a:t>
            </a:r>
            <a:endParaRPr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834A08-B51F-A70E-9AFB-83E2AAEF109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Month &amp; hour extracted previously</a:t>
            </a:r>
          </a:p>
          <a:p>
            <a:r>
              <a:rPr lang="en-US" dirty="0"/>
              <a:t>When Including time-based scheduling features, it resulted in a ROC-AUC of </a:t>
            </a:r>
            <a:r>
              <a:rPr lang="en-US" b="1" dirty="0"/>
              <a:t>0.751</a:t>
            </a:r>
            <a:r>
              <a:rPr lang="en-US" dirty="0"/>
              <a:t>, nearly identical to the baseline model. </a:t>
            </a:r>
          </a:p>
          <a:p>
            <a:r>
              <a:rPr lang="en-US" dirty="0"/>
              <a:t>This demonstrates that scheduling time does </a:t>
            </a:r>
            <a:r>
              <a:rPr lang="en-US" b="1" dirty="0"/>
              <a:t>not</a:t>
            </a:r>
            <a:r>
              <a:rPr lang="en-US" dirty="0"/>
              <a:t> meaningfully contribute to predicting inspection outcomes.</a:t>
            </a:r>
          </a:p>
          <a:p>
            <a:r>
              <a:rPr lang="en-US" dirty="0"/>
              <a:t>NOT RELEVAN FOR final model</a:t>
            </a:r>
          </a:p>
          <a:p>
            <a:endParaRPr dirty="0"/>
          </a:p>
        </p:txBody>
      </p:sp>
    </p:spTree>
    <p:extLst>
      <p:ext uri="{BB962C8B-B14F-4D97-AF65-F5344CB8AC3E}">
        <p14:creationId xmlns:p14="http://schemas.microsoft.com/office/powerpoint/2010/main" val="89604030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11348" y="2214695"/>
            <a:ext cx="7347322" cy="4509662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Timing features add no meaningful value (Ablation result: +0.001 AUC improvement)</a:t>
            </a:r>
          </a:p>
          <a:p>
            <a:r>
              <a:rPr lang="en-US" dirty="0"/>
              <a:t>Inspection failure is driven by </a:t>
            </a:r>
            <a:r>
              <a:rPr dirty="0"/>
              <a:t>Vehicle and organizational features</a:t>
            </a:r>
          </a:p>
          <a:p>
            <a:r>
              <a:rPr dirty="0"/>
              <a:t>Model is interpretable, causal, and deployable</a:t>
            </a:r>
            <a:endParaRPr lang="en-US" dirty="0"/>
          </a:p>
          <a:p>
            <a:r>
              <a:rPr lang="en-US" dirty="0"/>
              <a:t>A risk-based scheduling system can successfully catch  nearly 80% of failures (dangerous vehicles) using the SVM model.</a:t>
            </a:r>
          </a:p>
          <a:p>
            <a:r>
              <a:rPr lang="en-US" dirty="0"/>
              <a:t>Incorporating additional mechanical or historical inspection data into this public dataset would significantly enhance future predictive power.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m 2">
            <a:extLst>
              <a:ext uri="{FF2B5EF4-FFF2-40B4-BE49-F238E27FC236}">
                <a16:creationId xmlns:a16="http://schemas.microsoft.com/office/drawing/2014/main" id="{9EB5A493-AF22-2E81-696F-2976CB21766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837473B0-CC2E-450A-ABE3-18F120FF3D39}">
                <a1611:picAttrSrcUrl xmlns:a1611="http://schemas.microsoft.com/office/drawing/2016/11/main" r:id="rId3"/>
              </a:ext>
            </a:extLst>
          </a:blip>
          <a:stretch>
            <a:fillRect/>
          </a:stretch>
        </p:blipFill>
        <p:spPr>
          <a:xfrm>
            <a:off x="562704" y="3570731"/>
            <a:ext cx="7610625" cy="3100361"/>
          </a:xfrm>
          <a:prstGeom prst="rect">
            <a:avLst/>
          </a:prstGeom>
        </p:spPr>
      </p:pic>
      <p:pic>
        <p:nvPicPr>
          <p:cNvPr id="5" name="Imagem 4">
            <a:extLst>
              <a:ext uri="{FF2B5EF4-FFF2-40B4-BE49-F238E27FC236}">
                <a16:creationId xmlns:a16="http://schemas.microsoft.com/office/drawing/2014/main" id="{AFC3948B-4BD3-A5A9-461D-13F1EB260A6F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837473B0-CC2E-450A-ABE3-18F120FF3D39}">
                <a1611:picAttrSrcUrl xmlns:a1611="http://schemas.microsoft.com/office/drawing/2016/11/main" r:id="rId5"/>
              </a:ext>
            </a:extLst>
          </a:blip>
          <a:stretch>
            <a:fillRect/>
          </a:stretch>
        </p:blipFill>
        <p:spPr>
          <a:xfrm>
            <a:off x="562706" y="857250"/>
            <a:ext cx="7610624" cy="27134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18123925"/>
      </p:ext>
    </p:extLst>
  </p:cSld>
  <p:clrMapOvr>
    <a:masterClrMapping/>
  </p:clrMapOvr>
</p:sld>
</file>

<file path=ppt/theme/theme1.xml><?xml version="1.0" encoding="utf-8"?>
<a:theme xmlns:a="http://schemas.openxmlformats.org/drawingml/2006/main" name="Gotícula">
  <a:themeElements>
    <a:clrScheme name="Gotícula">
      <a:dk1>
        <a:sysClr val="windowText" lastClr="000000"/>
      </a:dk1>
      <a:lt1>
        <a:sysClr val="window" lastClr="FFFFFF"/>
      </a:lt1>
      <a:dk2>
        <a:srgbClr val="355071"/>
      </a:dk2>
      <a:lt2>
        <a:srgbClr val="AABED7"/>
      </a:lt2>
      <a:accent1>
        <a:srgbClr val="2FA3EE"/>
      </a:accent1>
      <a:accent2>
        <a:srgbClr val="4BCAAD"/>
      </a:accent2>
      <a:accent3>
        <a:srgbClr val="86C157"/>
      </a:accent3>
      <a:accent4>
        <a:srgbClr val="D99C3F"/>
      </a:accent4>
      <a:accent5>
        <a:srgbClr val="CE6633"/>
      </a:accent5>
      <a:accent6>
        <a:srgbClr val="A35DD1"/>
      </a:accent6>
      <a:hlink>
        <a:srgbClr val="56BCFE"/>
      </a:hlink>
      <a:folHlink>
        <a:srgbClr val="97C5E3"/>
      </a:folHlink>
    </a:clrScheme>
    <a:fontScheme name="Gotícula">
      <a:maj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Tw Cen MT" panose="020B0602020104020603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otícula">
      <a:fillStyleLst>
        <a:solidFill>
          <a:schemeClr val="phClr"/>
        </a:solidFill>
        <a:solidFill>
          <a:schemeClr val="phClr">
            <a:tint val="69000"/>
            <a:satMod val="105000"/>
            <a:lumMod val="110000"/>
          </a:schemeClr>
        </a:solidFill>
        <a:gradFill rotWithShape="1">
          <a:gsLst>
            <a:gs pos="0">
              <a:schemeClr val="phClr">
                <a:tint val="94000"/>
                <a:satMod val="100000"/>
                <a:lumMod val="108000"/>
              </a:schemeClr>
            </a:gs>
            <a:gs pos="50000">
              <a:schemeClr val="phClr">
                <a:tint val="98000"/>
                <a:shade val="100000"/>
                <a:satMod val="100000"/>
                <a:lumMod val="100000"/>
              </a:schemeClr>
            </a:gs>
            <a:gs pos="100000">
              <a:schemeClr val="phClr">
                <a:shade val="72000"/>
                <a:satMod val="120000"/>
                <a:lumMod val="100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>
              <a:shade val="60000"/>
            </a:schemeClr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508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63500" dist="25400" dir="5400000" algn="ctr" rotWithShape="0">
              <a:srgbClr val="000000">
                <a:alpha val="69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200000"/>
            </a:lightRig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8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84000"/>
                <a:shade val="100000"/>
                <a:hueMod val="130000"/>
                <a:satMod val="150000"/>
                <a:lumMod val="112000"/>
              </a:schemeClr>
            </a:gs>
            <a:gs pos="100000">
              <a:schemeClr val="phClr">
                <a:shade val="92000"/>
                <a:satMod val="140000"/>
                <a:lumMod val="11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roplet" id="{8984A317-299A-4E50-B45D-BFC9EDE2337A}" vid="{A633B6A3-9E7F-4C10-9C98-2517A3134361}"/>
    </a:ext>
  </a:extLst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106</TotalTime>
  <Words>606</Words>
  <Application>Microsoft Office PowerPoint</Application>
  <PresentationFormat>Apresentação na tela (4:3)</PresentationFormat>
  <Paragraphs>72</Paragraphs>
  <Slides>12</Slides>
  <Notes>11</Notes>
  <HiddenSlides>0</HiddenSlides>
  <MMClips>0</MMClips>
  <ScaleCrop>false</ScaleCrop>
  <HeadingPairs>
    <vt:vector size="6" baseType="variant">
      <vt:variant>
        <vt:lpstr>Fontes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12</vt:i4>
      </vt:variant>
    </vt:vector>
  </HeadingPairs>
  <TitlesOfParts>
    <vt:vector size="15" baseType="lpstr">
      <vt:lpstr>Arial</vt:lpstr>
      <vt:lpstr>Tw Cen MT</vt:lpstr>
      <vt:lpstr>Gotícula</vt:lpstr>
      <vt:lpstr>Predicting Public Passenger Vehicle Inspection Outcomes in Chicago</vt:lpstr>
      <vt:lpstr>Problem Definition</vt:lpstr>
      <vt:lpstr>Project Goals</vt:lpstr>
      <vt:lpstr>Related Methods</vt:lpstr>
      <vt:lpstr>Dataset &amp; Features</vt:lpstr>
      <vt:lpstr>Methodology</vt:lpstr>
      <vt:lpstr>Supervised Learning Results</vt:lpstr>
      <vt:lpstr>Model Comparison</vt:lpstr>
      <vt:lpstr>  Unsupervised Insights  - Used for insight, not prediction</vt:lpstr>
      <vt:lpstr>Time Feature Analysis</vt:lpstr>
      <vt:lpstr>Conclusion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User</dc:creator>
  <cp:keywords/>
  <dc:description>generated using python-pptx</dc:description>
  <cp:lastModifiedBy>Ricardo Caster</cp:lastModifiedBy>
  <cp:revision>2</cp:revision>
  <dcterms:created xsi:type="dcterms:W3CDTF">2013-01-27T09:14:16Z</dcterms:created>
  <dcterms:modified xsi:type="dcterms:W3CDTF">2026-01-05T20:21:16Z</dcterms:modified>
  <cp:category/>
</cp:coreProperties>
</file>